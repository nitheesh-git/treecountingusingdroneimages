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417320"/>
            <a:ext cx="402336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3716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A366"/>
                </a:solidFill>
                <a:latin typeface="Calibri"/>
              </a:rPr>
              <a:t>MINI PROJECT  · 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Tree Counting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Using Drone Images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794760"/>
            <a:ext cx="1371600" cy="45720"/>
          </a:xfrm>
          <a:prstGeom prst="rect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6908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C9D6CC"/>
                </a:solidFill>
                <a:latin typeface="Calibri"/>
              </a:rPr>
              <a:t>Automatic detection and counting of tree canopies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b="0" i="0">
                <a:solidFill>
                  <a:srgbClr val="C9D6CC"/>
                </a:solidFill>
                <a:latin typeface="Calibri"/>
              </a:rPr>
              <a:t>from aerial imagery using YOLOv11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4924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Nitheesh  ·  Nishu Kumari  ·  Astley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7150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9E"/>
                </a:solidFill>
                <a:latin typeface="Calibri"/>
              </a:rPr>
              <a:t>Guided by our project mentor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Counting trees by hand does not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67792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727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A1A19"/>
                </a:solidFill>
                <a:latin typeface="Calibri"/>
              </a:rPr>
              <a:t>Slow.  </a:t>
            </a:r>
            <a:r>
              <a:rPr sz="1600">
                <a:solidFill>
                  <a:srgbClr val="5C5B57"/>
                </a:solidFill>
                <a:latin typeface="Calibri"/>
              </a:rPr>
              <a:t>A field survey of a single plantation block can take days of manual walking and tallying.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4660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A1A19"/>
                </a:solidFill>
                <a:latin typeface="Calibri"/>
              </a:rPr>
              <a:t>Expensive.  </a:t>
            </a:r>
            <a:r>
              <a:rPr sz="1600">
                <a:solidFill>
                  <a:srgbClr val="5C5B57"/>
                </a:solidFill>
                <a:latin typeface="Calibri"/>
              </a:rPr>
              <a:t>Forestry and agriculture teams spend most of the survey budget on labour, not analysis.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41528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1012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A1A19"/>
                </a:solidFill>
                <a:latin typeface="Calibri"/>
              </a:rPr>
              <a:t>Inconsistent.  </a:t>
            </a:r>
            <a:r>
              <a:rPr sz="1600">
                <a:solidFill>
                  <a:srgbClr val="5C5B57"/>
                </a:solidFill>
                <a:latin typeface="Calibri"/>
              </a:rPr>
              <a:t>Two surveyors counting the same plot rarely agree, and nobody can audit the result later.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28396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78807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A1A19"/>
                </a:solidFill>
                <a:latin typeface="Calibri"/>
              </a:rPr>
              <a:t>Not repeatable.  </a:t>
            </a:r>
            <a:r>
              <a:rPr sz="1600">
                <a:solidFill>
                  <a:srgbClr val="5C5B57"/>
                </a:solidFill>
                <a:latin typeface="Calibri"/>
              </a:rPr>
              <a:t>Yearly monitoring means paying the full cost again, every single year.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508760"/>
            <a:ext cx="4480560" cy="32004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8288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WHO NEEDS THIS</a:t>
            </a:r>
          </a:p>
        </p:txBody>
      </p:sp>
      <p:sp>
        <p:nvSpPr>
          <p:cNvPr id="17" name="Oval 16"/>
          <p:cNvSpPr/>
          <p:nvPr/>
        </p:nvSpPr>
        <p:spPr>
          <a:xfrm>
            <a:off x="7269480" y="245516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35000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1A1A19"/>
                </a:solidFill>
                <a:latin typeface="Calibri"/>
              </a:rPr>
              <a:t>Forestry and plantation management</a:t>
            </a:r>
          </a:p>
        </p:txBody>
      </p:sp>
      <p:sp>
        <p:nvSpPr>
          <p:cNvPr id="19" name="Oval 18"/>
          <p:cNvSpPr/>
          <p:nvPr/>
        </p:nvSpPr>
        <p:spPr>
          <a:xfrm>
            <a:off x="7269480" y="295808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85292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1A1A19"/>
                </a:solidFill>
                <a:latin typeface="Calibri"/>
              </a:rPr>
              <a:t>Agriculture and orchard yield planning</a:t>
            </a:r>
          </a:p>
        </p:txBody>
      </p:sp>
      <p:sp>
        <p:nvSpPr>
          <p:cNvPr id="21" name="Oval 20"/>
          <p:cNvSpPr/>
          <p:nvPr/>
        </p:nvSpPr>
        <p:spPr>
          <a:xfrm>
            <a:off x="7269480" y="346100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335584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1A1A19"/>
                </a:solidFill>
                <a:latin typeface="Calibri"/>
              </a:rPr>
              <a:t>Environmental and carbon monitoring</a:t>
            </a:r>
          </a:p>
        </p:txBody>
      </p:sp>
      <p:sp>
        <p:nvSpPr>
          <p:cNvPr id="23" name="Oval 22"/>
          <p:cNvSpPr/>
          <p:nvPr/>
        </p:nvSpPr>
        <p:spPr>
          <a:xfrm>
            <a:off x="7269480" y="396392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85876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1A1A19"/>
                </a:solidFill>
                <a:latin typeface="Calibri"/>
              </a:rPr>
              <a:t>Urban green cover surveys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07492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10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28523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Drones already fly over these sites. The images exist. What is missing is a system that reads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What we set out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749808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7393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EA36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9222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9"/>
                </a:solidFill>
                <a:latin typeface="Calibr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C5B57"/>
                </a:solidFill>
                <a:latin typeface="Calibri"/>
              </a:rPr>
              <a:t>Locate every individual tree canopy in a top-view drone image with a bounding 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96312"/>
            <a:ext cx="106070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70048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EA366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88336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9"/>
                </a:solidFill>
                <a:latin typeface="Calibri"/>
              </a:rPr>
              <a:t>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24912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C5B57"/>
                </a:solidFill>
                <a:latin typeface="Calibri"/>
              </a:rPr>
              <a:t>Turn those detections into a reliable total count per image and per surveyed area.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92424"/>
            <a:ext cx="10607040" cy="749808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661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EA366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8444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9"/>
                </a:solidFill>
                <a:latin typeface="Calibri"/>
              </a:rPr>
              <a:t>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621024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C5B57"/>
                </a:solidFill>
                <a:latin typeface="Calibri"/>
              </a:rPr>
              <a:t>Train and tune a YOLOv11 detector on a real annotated aerial dataset.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88536"/>
            <a:ext cx="106070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6227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EA366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48055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9"/>
                </a:solidFill>
                <a:latin typeface="Calibri"/>
              </a:rPr>
              <a:t>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517136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C5B57"/>
                </a:solidFill>
                <a:latin typeface="Calibri"/>
              </a:rPr>
              <a:t>Measure quality with standard detection metrics plus a counting accuracy metric.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184648"/>
            <a:ext cx="10607040" cy="749808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35838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EA366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3766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9"/>
                </a:solidFill>
                <a:latin typeface="Calibri"/>
              </a:rPr>
              <a:t>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41324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5C5B57"/>
                </a:solidFill>
                <a:latin typeface="Calibri"/>
              </a:rPr>
              <a:t>Leave behind a reproducible pipeline that a non-author can clone and rerun.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Detection first, counting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A19"/>
                </a:solidFill>
                <a:latin typeface="Calibri"/>
              </a:rPr>
              <a:t>We treat tree counting as an object detection problem, not a regression problem.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50749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C5B57"/>
                </a:solidFill>
                <a:latin typeface="Calibri"/>
              </a:rPr>
              <a:t>Density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9"/>
                </a:solidFill>
                <a:latin typeface="Calibri"/>
              </a:rPr>
              <a:t>Predicts a count directly from the image.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C5B57"/>
                </a:solidFill>
                <a:latin typeface="Calibri"/>
              </a:rPr>
              <a:t>Gives you a number and nothing else. You cannot see which trees it found, so you cannot debug it or trust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148840"/>
            <a:ext cx="5074920" cy="22860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1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399" y="24231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7A45"/>
                </a:solidFill>
                <a:latin typeface="Calibri"/>
              </a:rPr>
              <a:t>Object detection  (our choice)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28803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9"/>
                </a:solidFill>
                <a:latin typeface="Calibri"/>
              </a:rPr>
              <a:t>Predicts a box per tree, then counts the boxes.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329184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C5B57"/>
                </a:solidFill>
                <a:latin typeface="Calibri"/>
              </a:rPr>
              <a:t>The count is explainable. Every tree is visible on the image, mistakes are visible too, and the same output feeds mapping and health analysis later.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WHY YOLOv11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285232"/>
            <a:ext cx="25146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4132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1A19"/>
                </a:solidFill>
                <a:latin typeface="Calibri"/>
              </a:rPr>
              <a:t>Single 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6875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One forward pass per image, fast enough for large image batches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5285232"/>
            <a:ext cx="25146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4132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1A19"/>
                </a:solidFill>
                <a:latin typeface="Calibri"/>
              </a:rPr>
              <a:t>Small objects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6875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Anchor-free head handles the dense, small canopies in our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5285232"/>
            <a:ext cx="25146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4132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1A19"/>
                </a:solidFill>
                <a:latin typeface="Calibri"/>
              </a:rPr>
              <a:t>Mature tooling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6875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Ultralytics gives training, validation and export out of the box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5285232"/>
            <a:ext cx="251460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54132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A1A19"/>
                </a:solidFill>
                <a:latin typeface="Calibri"/>
              </a:rPr>
              <a:t>Deployable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68756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Nano and small variants can run on modest hardware in the field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Tree-Top-View, an annotated aerial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0136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7A45"/>
                </a:solidFill>
                <a:latin typeface="Calibri"/>
              </a:rPr>
              <a:t>1,362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0487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annotated aerial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00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0136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7A45"/>
                </a:solidFill>
                <a:latin typeface="Calibri"/>
              </a:rPr>
              <a:t>11,377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40487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labelled tree canopies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0136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7A45"/>
                </a:solidFill>
                <a:latin typeface="Calibri"/>
              </a:rPr>
              <a:t>8.4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0487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trees per image on average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600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80136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7A45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404872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class: tree-top</a:t>
            </a:r>
          </a:p>
        </p:txBody>
      </p:sp>
      <p:pic>
        <p:nvPicPr>
          <p:cNvPr id="19" name="Picture 18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6309360" cy="20330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306324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SPLIT USED FOR 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3063240"/>
            <a:ext cx="3931920" cy="283464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AT A GLANCE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70332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703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A19"/>
                </a:solidFill>
                <a:latin typeface="Calibri"/>
              </a:rPr>
              <a:t>Roboflow Universe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12394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Format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123944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A19"/>
                </a:solidFill>
                <a:latin typeface="Calibri"/>
              </a:rPr>
              <a:t>YOLOv11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5445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Resolution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4544568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A19"/>
                </a:solidFill>
                <a:latin typeface="Calibri"/>
              </a:rPr>
              <a:t>416 x 416 px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96519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Licence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96519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A19"/>
                </a:solidFill>
                <a:latin typeface="Calibri"/>
              </a:rPr>
              <a:t>CC BY 4.0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38581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Scenes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5385816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A19"/>
                </a:solidFill>
                <a:latin typeface="Calibri"/>
              </a:rPr>
              <a:t>Forest, plantation, mixed terrain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DATASET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What the model has to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3040"/>
            <a:ext cx="452628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691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Four validation images with their ground truth boxes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236372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25856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>
                <a:solidFill>
                  <a:srgbClr val="1A1A19"/>
                </a:solidFill>
                <a:latin typeface="Calibri"/>
              </a:rPr>
              <a:t>Canopies overlap and touch, so boxes overlap too</a:t>
            </a:r>
          </a:p>
        </p:txBody>
      </p:sp>
      <p:sp>
        <p:nvSpPr>
          <p:cNvPr id="11" name="Oval 10"/>
          <p:cNvSpPr/>
          <p:nvPr/>
        </p:nvSpPr>
        <p:spPr>
          <a:xfrm>
            <a:off x="5760720" y="2839212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73405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>
                <a:solidFill>
                  <a:srgbClr val="1A1A19"/>
                </a:solidFill>
                <a:latin typeface="Calibri"/>
              </a:rPr>
              <a:t>Tree colour is close to grass and shrub colour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0" y="3314700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20954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>
                <a:solidFill>
                  <a:srgbClr val="1A1A19"/>
                </a:solidFill>
                <a:latin typeface="Calibri"/>
              </a:rPr>
              <a:t>Shadows and bare ground look like canopies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0" y="3790188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68503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>
                <a:solidFill>
                  <a:srgbClr val="1A1A19"/>
                </a:solidFill>
                <a:latin typeface="Calibri"/>
              </a:rPr>
              <a:t>Scale varies widely inside a single image</a:t>
            </a:r>
          </a:p>
        </p:txBody>
      </p:sp>
      <p:sp>
        <p:nvSpPr>
          <p:cNvPr id="17" name="Oval 16"/>
          <p:cNvSpPr/>
          <p:nvPr/>
        </p:nvSpPr>
        <p:spPr>
          <a:xfrm>
            <a:off x="5760720" y="4265676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41605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>
                <a:solidFill>
                  <a:srgbClr val="1A1A19"/>
                </a:solidFill>
                <a:latin typeface="Calibri"/>
              </a:rPr>
              <a:t>Some scenes are dense forest, others are sparse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4892040"/>
            <a:ext cx="5577840" cy="96012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5093208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5C5B57"/>
                </a:solidFill>
                <a:latin typeface="Calibri"/>
              </a:rPr>
              <a:t>This is why a naive colour or blob threshold fails, and why a trained detector is worth the effort.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How many trees are in a typical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hist_tr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6858000" cy="3200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79" y="169164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65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WHAT WE READ FROM IT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2546604"/>
            <a:ext cx="100584" cy="100584"/>
          </a:xfrm>
          <a:prstGeom prst="ellipse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4414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A1A19"/>
                </a:solidFill>
                <a:latin typeface="Calibri"/>
              </a:rPr>
              <a:t>Most images hold 3 to 15 trees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3204972"/>
            <a:ext cx="100584" cy="100584"/>
          </a:xfrm>
          <a:prstGeom prst="ellipse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09981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A1A19"/>
                </a:solidFill>
                <a:latin typeface="Calibri"/>
              </a:rPr>
              <a:t>The tail runs to 40 in one image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3863340"/>
            <a:ext cx="100584" cy="100584"/>
          </a:xfrm>
          <a:prstGeom prst="ellipse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375818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A1A19"/>
                </a:solidFill>
                <a:latin typeface="Calibri"/>
              </a:rPr>
              <a:t>43 images have no trees at all, useful as negative examples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4521708"/>
            <a:ext cx="100584" cy="100584"/>
          </a:xfrm>
          <a:prstGeom prst="ellipse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441655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A1A19"/>
                </a:solidFill>
                <a:latin typeface="Calibri"/>
              </a:rPr>
              <a:t>Counting error will scale with density, so we report it by band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6459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DISTRIBUTION OF ANNOTATIONS PER IMAGE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The hard part is that trees are small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box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6858000" cy="304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16459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CANOPY BOX SIZE DISTRIBUTION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69164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89280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7A45"/>
                </a:solidFill>
                <a:latin typeface="Calibri"/>
              </a:rPr>
              <a:t>55 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267712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median canopy width on a 416 px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971800"/>
            <a:ext cx="3429000" cy="11430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317296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7A45"/>
                </a:solidFill>
                <a:latin typeface="Calibri"/>
              </a:rPr>
              <a:t>24%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547872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of all boxes fall under the 32 px small-object 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251960"/>
            <a:ext cx="3429000" cy="1463040"/>
          </a:xfrm>
          <a:prstGeom prst="roundRect">
            <a:avLst>
              <a:gd name="adj" fmla="val 6000"/>
            </a:avLst>
          </a:prstGeom>
          <a:solidFill>
            <a:srgbClr val="10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48056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quarter of our targets are small objects. That directly shapes our training plan: higher input resolution and small-object augmentation.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One finding we want to flag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9"/>
                </a:solidFill>
                <a:latin typeface="Calibri"/>
              </a:rPr>
              <a:t>The 1,191 training images are not 1,191 distinct scenes.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C5B57"/>
                </a:solidFill>
                <a:latin typeface="Calibri"/>
              </a:rPr>
              <a:t>Roboflow applied offline augmentation before export. Counting unique base filenames shows the real picture: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8892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90088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7A45"/>
                </a:solidFill>
                <a:latin typeface="Calibri"/>
              </a:rPr>
              <a:t>1,191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93591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training image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78892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990088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7A45"/>
                </a:solidFill>
                <a:latin typeface="Calibri"/>
              </a:rPr>
              <a:t>375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593591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unique source scenes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78892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990088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7A45"/>
                </a:solidFill>
                <a:latin typeface="Calibri"/>
              </a:rPr>
              <a:t>~3x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93591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augmented copies per scene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8056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1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709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07492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C5B57"/>
                </a:solidFill>
                <a:latin typeface="Calibri"/>
              </a:rPr>
              <a:t>Random splitting would leak augmented twins of a training scene into validation and inflate our scores.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0916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WHAT WE WILL 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7492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C5B57"/>
                </a:solidFill>
                <a:latin typeface="Calibri"/>
              </a:rPr>
              <a:t>Verify that the provided splits are scene-disjoint, and report metrics on the untouched test set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End to 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A1A19"/>
                </a:solidFill>
                <a:latin typeface="Calibri"/>
              </a:rPr>
              <a:t>Drone imagery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C5B57"/>
                </a:solidFill>
                <a:latin typeface="Calibri"/>
              </a:rPr>
              <a:t>Top-view aerial capture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95727" y="2651760"/>
            <a:ext cx="164592" cy="146304"/>
          </a:xfrm>
          <a:prstGeom prst="rightArrow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06040" y="205740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25856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A1A19"/>
                </a:solidFill>
                <a:latin typeface="Calibri"/>
              </a:rPr>
              <a:t>Dataset prep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80720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C5B57"/>
                </a:solidFill>
                <a:latin typeface="Calibri"/>
              </a:rPr>
              <a:t>YOLO format, split, verified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24528" y="2651760"/>
            <a:ext cx="164592" cy="146304"/>
          </a:xfrm>
          <a:prstGeom prst="rightArrow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205740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1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25856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A1A19"/>
                </a:solidFill>
                <a:latin typeface="Calibri"/>
              </a:rPr>
              <a:t>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0720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C5B57"/>
                </a:solidFill>
                <a:latin typeface="Calibri"/>
              </a:rPr>
              <a:t>YOLOv11 on the tree-top class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53327" y="2651760"/>
            <a:ext cx="164592" cy="146304"/>
          </a:xfrm>
          <a:prstGeom prst="rightArrow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205740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5856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A1A19"/>
                </a:solidFill>
                <a:latin typeface="Calibri"/>
              </a:rPr>
              <a:t>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0720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C5B57"/>
                </a:solidFill>
                <a:latin typeface="Calibri"/>
              </a:rPr>
              <a:t>Boxes with confidence scores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82128" y="2651760"/>
            <a:ext cx="164592" cy="146304"/>
          </a:xfrm>
          <a:prstGeom prst="rightArrow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92440" y="205740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1F7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25856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A1A19"/>
                </a:solidFill>
                <a:latin typeface="Calibri"/>
              </a:rPr>
              <a:t>Counting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0720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C5B57"/>
                </a:solidFill>
                <a:latin typeface="Calibri"/>
              </a:rPr>
              <a:t>Post-process, NMS, tally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10928" y="2651760"/>
            <a:ext cx="164592" cy="146304"/>
          </a:xfrm>
          <a:prstGeom prst="rightArrow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21240" y="205740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225856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A1A19"/>
                </a:solidFill>
                <a:latin typeface="Calibri"/>
              </a:rP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807208"/>
            <a:ext cx="1298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C5B57"/>
                </a:solidFill>
                <a:latin typeface="Calibri"/>
              </a:rPr>
              <a:t>Detection and count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8862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TRAINING CONFIGURATION WE START FROM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97680"/>
            <a:ext cx="6035040" cy="1737360"/>
          </a:xfrm>
          <a:prstGeom prst="roundRect">
            <a:avLst>
              <a:gd name="adj" fmla="val 6000"/>
            </a:avLst>
          </a:prstGeom>
          <a:solidFill>
            <a:srgbClr val="10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52628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E6C8"/>
                </a:solidFill>
                <a:latin typeface="Consolas"/>
              </a:rPr>
              <a:t>yolo detect train \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 i="0">
                <a:solidFill>
                  <a:srgbClr val="B8E6C8"/>
                </a:solidFill>
                <a:latin typeface="Consolas"/>
              </a:rPr>
              <a:t>  model=yolo11n.pt \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 i="0">
                <a:solidFill>
                  <a:srgbClr val="B8E6C8"/>
                </a:solidFill>
                <a:latin typeface="Consolas"/>
              </a:rPr>
              <a:t>  data=datasets/Tree-Top-View/data.yaml \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 i="0">
                <a:solidFill>
                  <a:srgbClr val="B8E6C8"/>
                </a:solidFill>
                <a:latin typeface="Consolas"/>
              </a:rPr>
              <a:t>  epochs=100  imgsz=640</a:t>
            </a:r>
          </a:p>
        </p:txBody>
      </p:sp>
      <p:sp>
        <p:nvSpPr>
          <p:cNvPr id="33" name="Oval 32"/>
          <p:cNvSpPr/>
          <p:nvPr/>
        </p:nvSpPr>
        <p:spPr>
          <a:xfrm>
            <a:off x="7223760" y="451256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0" y="4407407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1A19"/>
                </a:solidFill>
                <a:latin typeface="Calibri"/>
              </a:rPr>
              <a:t>Baseline first.  </a:t>
            </a:r>
            <a:r>
              <a:rPr sz="1300">
                <a:solidFill>
                  <a:srgbClr val="5C5B57"/>
                </a:solidFill>
                <a:latin typeface="Calibri"/>
              </a:rPr>
              <a:t>yolo11n gives us a fast reference run.</a:t>
            </a:r>
          </a:p>
        </p:txBody>
      </p:sp>
      <p:sp>
        <p:nvSpPr>
          <p:cNvPr id="35" name="Oval 34"/>
          <p:cNvSpPr/>
          <p:nvPr/>
        </p:nvSpPr>
        <p:spPr>
          <a:xfrm>
            <a:off x="7223760" y="5061203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0" y="4956047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1A19"/>
                </a:solidFill>
                <a:latin typeface="Calibri"/>
              </a:rPr>
              <a:t>Then scale.  </a:t>
            </a:r>
            <a:r>
              <a:rPr sz="1300">
                <a:solidFill>
                  <a:srgbClr val="5C5B57"/>
                </a:solidFill>
                <a:latin typeface="Calibri"/>
              </a:rPr>
              <a:t>yolo11s and yolo11m if accuracy demands it.</a:t>
            </a:r>
          </a:p>
        </p:txBody>
      </p:sp>
      <p:sp>
        <p:nvSpPr>
          <p:cNvPr id="37" name="Oval 36"/>
          <p:cNvSpPr/>
          <p:nvPr/>
        </p:nvSpPr>
        <p:spPr>
          <a:xfrm>
            <a:off x="7223760" y="560984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0" y="550468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1A19"/>
                </a:solidFill>
                <a:latin typeface="Calibri"/>
              </a:rPr>
              <a:t>imgsz 640.  </a:t>
            </a:r>
            <a:r>
              <a:rPr sz="1300">
                <a:solidFill>
                  <a:srgbClr val="5C5B57"/>
                </a:solidFill>
                <a:latin typeface="Calibri"/>
              </a:rPr>
              <a:t>Upscaled from 416 to help the small canopies.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How we will judge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C5B57"/>
                </a:solidFill>
                <a:latin typeface="Calibri"/>
              </a:rPr>
              <a:t>Detection quality and counting quality are different questions, so we measure both.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DETECTION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COUNTING AND PRACTICAL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6032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79191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71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Of the trees we detected, how many were real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7472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86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Of the real trees, how many we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8912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mAP@0.5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Detection quality at a standard overlap 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30352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4223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mAP@0.5:0.95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715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Detection quality averaged over strict thresholds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56032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679191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Count 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71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Average absolute difference between predicted and true count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47472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593591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Count error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86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Relative counting error, reported per density band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38912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5079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Inference 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Milliseconds per image, for field feasibility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530352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4223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Failure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715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Manual look at the worst images, not just the averages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ENGINEERING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The repository is already structured for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6858000" cy="3291840"/>
          </a:xfrm>
          <a:prstGeom prst="roundRect">
            <a:avLst>
              <a:gd name="adj" fmla="val 6000"/>
            </a:avLst>
          </a:prstGeom>
          <a:solidFill>
            <a:srgbClr val="10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92807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C5E3CF"/>
                </a:solidFill>
                <a:latin typeface="Consolas"/>
              </a:rPr>
              <a:t>TreeCountingUsingDroneImages/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0">
                <a:solidFill>
                  <a:srgbClr val="C5E3CF"/>
                </a:solidFill>
                <a:latin typeface="Consolas"/>
              </a:rPr>
              <a:t>├── datasets/  Tree-Top-View: train, valid, test, data.yaml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0">
                <a:solidFill>
                  <a:srgbClr val="C5E3CF"/>
                </a:solidFill>
                <a:latin typeface="Consolas"/>
              </a:rPr>
              <a:t>├── src/       train, predict, evaluate, visualize, utils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0">
                <a:solidFill>
                  <a:srgbClr val="C5E3CF"/>
                </a:solidFill>
                <a:latin typeface="Consolas"/>
              </a:rPr>
              <a:t>├── models/    checkpoints and trained weights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0">
                <a:solidFill>
                  <a:srgbClr val="C5E3CF"/>
                </a:solidFill>
                <a:latin typeface="Consolas"/>
              </a:rPr>
              <a:t>├── outputs/   metrics, predictions, visualizations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0">
                <a:solidFill>
                  <a:srgbClr val="C5E3CF"/>
                </a:solidFill>
                <a:latin typeface="Consolas"/>
              </a:rPr>
              <a:t>├── notebooks/ exploration and analysis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0">
                <a:solidFill>
                  <a:srgbClr val="C5E3CF"/>
                </a:solidFill>
                <a:latin typeface="Consolas"/>
              </a:rPr>
              <a:t>├── scripts/   reproducible run scripts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0">
                <a:solidFill>
                  <a:srgbClr val="C5E3CF"/>
                </a:solidFill>
                <a:latin typeface="Consolas"/>
              </a:rPr>
              <a:t>├── docs/      report and presentation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100" b="0" i="0">
                <a:solidFill>
                  <a:srgbClr val="C5E3CF"/>
                </a:solidFill>
                <a:latin typeface="Consolas"/>
              </a:rPr>
              <a:t>└── requirements.txt</a:t>
            </a:r>
          </a:p>
        </p:txBody>
      </p:sp>
      <p:sp>
        <p:nvSpPr>
          <p:cNvPr id="9" name="Oval 8"/>
          <p:cNvSpPr/>
          <p:nvPr/>
        </p:nvSpPr>
        <p:spPr>
          <a:xfrm>
            <a:off x="8001000" y="176936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642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1A19"/>
                </a:solidFill>
                <a:latin typeface="Calibri"/>
              </a:rPr>
              <a:t>Version controlled.  </a:t>
            </a:r>
            <a:r>
              <a:rPr sz="1300">
                <a:solidFill>
                  <a:srgbClr val="5C5B57"/>
                </a:solidFill>
                <a:latin typeface="Calibri"/>
              </a:rPr>
              <a:t>Every change tracked on GitHub from day one.</a:t>
            </a:r>
          </a:p>
        </p:txBody>
      </p:sp>
      <p:sp>
        <p:nvSpPr>
          <p:cNvPr id="11" name="Oval 10"/>
          <p:cNvSpPr/>
          <p:nvPr/>
        </p:nvSpPr>
        <p:spPr>
          <a:xfrm>
            <a:off x="8001000" y="254660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4414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1A19"/>
                </a:solidFill>
                <a:latin typeface="Calibri"/>
              </a:rPr>
              <a:t>Separated concerns.  </a:t>
            </a:r>
            <a:r>
              <a:rPr sz="1300">
                <a:solidFill>
                  <a:srgbClr val="5C5B57"/>
                </a:solidFill>
                <a:latin typeface="Calibri"/>
              </a:rPr>
              <a:t>Data, code, weights and outputs never mix.</a:t>
            </a:r>
          </a:p>
        </p:txBody>
      </p:sp>
      <p:sp>
        <p:nvSpPr>
          <p:cNvPr id="13" name="Oval 12"/>
          <p:cNvSpPr/>
          <p:nvPr/>
        </p:nvSpPr>
        <p:spPr>
          <a:xfrm>
            <a:off x="8001000" y="332384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3218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1A19"/>
                </a:solidFill>
                <a:latin typeface="Calibri"/>
              </a:rPr>
              <a:t>Reproducible.  </a:t>
            </a:r>
            <a:r>
              <a:rPr sz="1300">
                <a:solidFill>
                  <a:srgbClr val="5C5B57"/>
                </a:solidFill>
                <a:latin typeface="Calibri"/>
              </a:rPr>
              <a:t>Clone, install requirements, run one command.</a:t>
            </a:r>
          </a:p>
        </p:txBody>
      </p:sp>
      <p:sp>
        <p:nvSpPr>
          <p:cNvPr id="15" name="Oval 14"/>
          <p:cNvSpPr/>
          <p:nvPr/>
        </p:nvSpPr>
        <p:spPr>
          <a:xfrm>
            <a:off x="8001000" y="4101084"/>
            <a:ext cx="100584" cy="100584"/>
          </a:xfrm>
          <a:prstGeom prst="ellipse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9959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A1A19"/>
                </a:solidFill>
                <a:latin typeface="Calibri"/>
              </a:rPr>
              <a:t>Documented.  </a:t>
            </a:r>
            <a:r>
              <a:rPr sz="1300">
                <a:solidFill>
                  <a:srgbClr val="5C5B57"/>
                </a:solidFill>
                <a:latin typeface="Calibri"/>
              </a:rPr>
              <a:t>README carries setup, dataset and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257800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6811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A19"/>
                </a:solidFill>
                <a:latin typeface="Calibri"/>
              </a:rPr>
              <a:t>Stack:   Python 3  ·  PyTorch  ·  Ultralytics YOLOv11  ·  OpenCV  ·  NumPy  ·  Pandas  ·  Matplotlib  ·  Git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Where we are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0749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82296" cy="713232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1051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Repository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7A45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68880"/>
            <a:ext cx="50749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468880"/>
            <a:ext cx="82296" cy="713232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67919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Dataset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7A45"/>
                </a:solidFill>
                <a:latin typeface="Calibri"/>
              </a:rPr>
              <a:t>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37560"/>
            <a:ext cx="50749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37560"/>
            <a:ext cx="82296" cy="713232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5478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Dataset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566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7A45"/>
                </a:solidFill>
                <a:latin typeface="Calibri"/>
              </a:rPr>
              <a:t>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06240"/>
            <a:ext cx="50749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206240"/>
            <a:ext cx="82296" cy="713232"/>
          </a:xfrm>
          <a:prstGeom prst="rect">
            <a:avLst/>
          </a:prstGeom>
          <a:solidFill>
            <a:srgbClr val="C14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4165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Literature survey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434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C14D1F"/>
                </a:solidFill>
                <a:latin typeface="Calibri"/>
              </a:rPr>
              <a:t>In 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1600200"/>
            <a:ext cx="50749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1600200"/>
            <a:ext cx="82296" cy="713232"/>
          </a:xfrm>
          <a:prstGeom prst="rect">
            <a:avLst/>
          </a:prstGeom>
          <a:solidFill>
            <a:srgbClr val="C14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81051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Model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1828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C14D1F"/>
                </a:solidFill>
                <a:latin typeface="Calibri"/>
              </a:rPr>
              <a:t>Next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468880"/>
            <a:ext cx="50749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2468880"/>
            <a:ext cx="82296" cy="713232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67919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Hyperparameter tuning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2697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9A9994"/>
                </a:solidFill>
                <a:latin typeface="Calibri"/>
              </a:rPr>
              <a:t>Planned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59" y="3337560"/>
            <a:ext cx="50749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59" y="3337560"/>
            <a:ext cx="82296" cy="713232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5478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19" y="3566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9A9994"/>
                </a:solidFill>
                <a:latin typeface="Calibri"/>
              </a:rPr>
              <a:t>Planned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4206240"/>
            <a:ext cx="50749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59" y="4206240"/>
            <a:ext cx="82296" cy="713232"/>
          </a:xfrm>
          <a:prstGeom prst="rect">
            <a:avLst/>
          </a:prstGeom>
          <a:solidFill>
            <a:srgbClr val="9A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4165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9"/>
                </a:solidFill>
                <a:latin typeface="Calibri"/>
              </a:rPr>
              <a:t>Final documentation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19" y="4434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9A9994"/>
                </a:solidFill>
                <a:latin typeface="Calibri"/>
              </a:rPr>
              <a:t>Planned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257800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10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4589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Data work is complete and understood. The next milestone is a trained baseline with real numbers to show.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What could go wrong, and our plan for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987552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4650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A1A19"/>
                </a:solidFill>
                <a:latin typeface="Calibri"/>
              </a:rPr>
              <a:t>Small canopies are missed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1907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5B57"/>
                </a:solidFill>
                <a:latin typeface="Calibri"/>
              </a:rPr>
              <a:t>24% of boxes are under 32 px, the classic weak spot for detectors.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746504"/>
            <a:ext cx="36576" cy="694944"/>
          </a:xfrm>
          <a:prstGeom prst="rect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719072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7A45"/>
                </a:solidFill>
                <a:latin typeface="Calibri"/>
              </a:rPr>
              <a:t>Train at 640 or 960 input size, add scale and mosaic augmentation, tune the confidence threshold for recall.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15768"/>
            <a:ext cx="1060704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8620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A1A19"/>
                </a:solidFill>
                <a:latin typeface="Calibri"/>
              </a:rPr>
              <a:t>Overlapping canopies get merged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34639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5B57"/>
                </a:solidFill>
                <a:latin typeface="Calibri"/>
              </a:rPr>
              <a:t>Dense forest means boxes sit on top of each other and NMS may delete true positives.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862072"/>
            <a:ext cx="36576" cy="694944"/>
          </a:xfrm>
          <a:prstGeom prst="rect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834639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7A45"/>
                </a:solidFill>
                <a:latin typeface="Calibri"/>
              </a:rPr>
              <a:t>Tune the NMS IoU threshold explicitly and validate the count, not just the mAP.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31335"/>
            <a:ext cx="10607040" cy="987552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77639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A1A19"/>
                </a:solidFill>
                <a:latin typeface="Calibri"/>
              </a:rPr>
              <a:t>Limited unique scenes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950207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5B57"/>
                </a:solidFill>
                <a:latin typeface="Calibri"/>
              </a:rPr>
              <a:t>375 distinct source scenes is a modest amount of real variety.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3977639"/>
            <a:ext cx="36576" cy="694944"/>
          </a:xfrm>
          <a:prstGeom prst="rect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950207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7A45"/>
                </a:solidFill>
                <a:latin typeface="Calibri"/>
              </a:rPr>
              <a:t>Rely on augmentation, keep the test split untouched, and report honestly rather than overclaiming.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46904"/>
            <a:ext cx="1060704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09320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A1A19"/>
                </a:solidFill>
                <a:latin typeface="Calibri"/>
              </a:rPr>
              <a:t>Domain shift on new drone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065776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C5B57"/>
                </a:solidFill>
                <a:latin typeface="Calibri"/>
              </a:rPr>
              <a:t>A different camera, altitude or season may not look like our training set.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5093208"/>
            <a:ext cx="36576" cy="694944"/>
          </a:xfrm>
          <a:prstGeom prst="rect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5065776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7A45"/>
                </a:solidFill>
                <a:latin typeface="Calibri"/>
              </a:rPr>
              <a:t>Document the operating conditions the model was trained for, and flag it as future 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7A45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A19"/>
                </a:solidFill>
                <a:latin typeface="Calibri"/>
              </a:rPr>
              <a:t>What happens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Tree Counting Using Drone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636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C5B57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234440" cy="731520"/>
          </a:xfrm>
          <a:prstGeom prst="roundRect">
            <a:avLst>
              <a:gd name="adj" fmla="val 6000"/>
            </a:avLst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19656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600200"/>
            <a:ext cx="9189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70078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A19"/>
                </a:solidFill>
                <a:latin typeface="Calibri"/>
              </a:rPr>
              <a:t>Verify split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011680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Confirm no augmented twin of a training scene appears in valid or test.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41448"/>
            <a:ext cx="1234440" cy="73152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60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5C5B57"/>
                </a:solidFill>
                <a:latin typeface="Calibri"/>
              </a:rPr>
              <a:t>Week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2441448"/>
            <a:ext cx="9189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5420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A19"/>
                </a:solidFill>
                <a:latin typeface="Calibri"/>
              </a:rPr>
              <a:t>Baseline training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85292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Train yolo11n for 100 epochs and record the first full metric 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82696"/>
            <a:ext cx="1234440" cy="73152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0215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5C5B57"/>
                </a:solidFill>
                <a:latin typeface="Calibri"/>
              </a:rPr>
              <a:t>Week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3282696"/>
            <a:ext cx="9189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338327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A19"/>
                </a:solidFill>
                <a:latin typeface="Calibri"/>
              </a:rPr>
              <a:t>Tune and 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694176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Sweep image size, augmentation and model size, then pick a winner.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123944"/>
            <a:ext cx="1234440" cy="73152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43400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5C5B57"/>
                </a:solidFill>
                <a:latin typeface="Calibri"/>
              </a:rPr>
              <a:t>Week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4123944"/>
            <a:ext cx="9189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42245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A19"/>
                </a:solidFill>
                <a:latin typeface="Calibri"/>
              </a:rPr>
              <a:t>Counting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535424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Build the count post-processing and measure counting error directly.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965192"/>
            <a:ext cx="1234440" cy="731520"/>
          </a:xfrm>
          <a:prstGeom prst="roundRect">
            <a:avLst>
              <a:gd name="adj" fmla="val 6000"/>
            </a:avLst>
          </a:prstGeom>
          <a:solidFill>
            <a:srgbClr val="F2F6F3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8464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5C5B57"/>
                </a:solidFill>
                <a:latin typeface="Calibri"/>
              </a:rPr>
              <a:t>Week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4965192"/>
            <a:ext cx="9189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06577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A1A19"/>
                </a:solidFill>
                <a:latin typeface="Calibri"/>
              </a:rPr>
              <a:t>Report and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5376672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5B57"/>
                </a:solidFill>
                <a:latin typeface="Calibri"/>
              </a:rPr>
              <a:t>Annotated prediction gallery, final metrics, written report.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7A45"/>
                </a:solidFill>
                <a:latin typeface="Calibri"/>
              </a:rPr>
              <a:t>Ask for the mentor:  is our evaluation plan complete, and should we prioritise accuracy or field-deployable speed?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EA366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468880"/>
            <a:ext cx="10058400" cy="749808"/>
          </a:xfrm>
          <a:prstGeom prst="roundRect">
            <a:avLst>
              <a:gd name="adj" fmla="val 6000"/>
            </a:avLst>
          </a:prstGeom>
          <a:solidFill>
            <a:srgbClr val="1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8775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Nitheesh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42616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B4C8B9"/>
                </a:solidFill>
                <a:latin typeface="Calibri"/>
              </a:rPr>
              <a:t>Project lead, model development, repository, documentation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383280"/>
            <a:ext cx="10058400" cy="749808"/>
          </a:xfrm>
          <a:prstGeom prst="roundRect">
            <a:avLst>
              <a:gd name="adj" fmla="val 6000"/>
            </a:avLst>
          </a:prstGeom>
          <a:solidFill>
            <a:srgbClr val="1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0215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Nishu Kumari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57016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B4C8B9"/>
                </a:solidFill>
                <a:latin typeface="Calibri"/>
              </a:rPr>
              <a:t>Literature survey, dataset analysis, documentation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297680"/>
            <a:ext cx="10058400" cy="749808"/>
          </a:xfrm>
          <a:prstGeom prst="roundRect">
            <a:avLst>
              <a:gd name="adj" fmla="val 6000"/>
            </a:avLst>
          </a:prstGeom>
          <a:solidFill>
            <a:srgbClr val="1A3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41655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Astley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471416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B4C8B9"/>
                </a:solidFill>
                <a:latin typeface="Calibri"/>
              </a:rPr>
              <a:t>Data collection, research, model evaluation,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5486400"/>
            <a:ext cx="1371600" cy="45720"/>
          </a:xfrm>
          <a:prstGeom prst="rect">
            <a:avLst/>
          </a:prstGeom>
          <a:solidFill>
            <a:srgbClr val="3EA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EA594"/>
                </a:solidFill>
                <a:latin typeface="Calibri"/>
              </a:rPr>
              <a:t>Dataset: Tree-Top-View, Roboflow Universe, CC BY 4.0   ·   Built with Ultralytics YOLOv11 and PyTorch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